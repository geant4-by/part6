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90" r:id="rId2"/>
    <p:sldId id="491" r:id="rId3"/>
    <p:sldId id="492" r:id="rId4"/>
    <p:sldId id="495" r:id="rId5"/>
    <p:sldId id="496" r:id="rId6"/>
    <p:sldId id="498" r:id="rId7"/>
    <p:sldId id="505" r:id="rId8"/>
    <p:sldId id="506" r:id="rId9"/>
    <p:sldId id="507" r:id="rId10"/>
    <p:sldId id="509" r:id="rId11"/>
    <p:sldId id="499" r:id="rId12"/>
    <p:sldId id="501" r:id="rId13"/>
    <p:sldId id="502" r:id="rId14"/>
    <p:sldId id="503" r:id="rId15"/>
    <p:sldId id="510" r:id="rId16"/>
    <p:sldId id="512" r:id="rId17"/>
    <p:sldId id="514" r:id="rId18"/>
    <p:sldId id="515" r:id="rId19"/>
    <p:sldId id="518" r:id="rId20"/>
    <p:sldId id="517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39" autoAdjust="0"/>
    <p:restoredTop sz="94660"/>
  </p:normalViewPr>
  <p:slideViewPr>
    <p:cSldViewPr snapToGrid="0">
      <p:cViewPr varScale="1">
        <p:scale>
          <a:sx n="83" d="100"/>
          <a:sy n="83" d="100"/>
        </p:scale>
        <p:origin x="57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DCAB7-419D-4F5D-9F0C-1DC24658870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0090D-BAB6-4D03-B65E-C17C27EF8E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703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B2CCE-5B1D-4245-BA47-39FB0ACC8F2E}" type="datetime1">
              <a:rPr lang="ru-RU" smtClean="0"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ADD55-C30F-40BF-960A-F9D0FC7FD1C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716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FBB-05F0-46FF-A2A9-1E5A3072F14B}" type="datetime1">
              <a:rPr lang="ru-RU" smtClean="0"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ADD55-C30F-40BF-960A-F9D0FC7FD1C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1781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9C40-D8BE-48F7-9AED-22755AC5BA56}" type="datetime1">
              <a:rPr lang="ru-RU" smtClean="0"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ADD55-C30F-40BF-960A-F9D0FC7FD1C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8700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B9B14-8F0B-4B28-935B-AC6391DC37F3}" type="datetime1">
              <a:rPr lang="ru-RU" smtClean="0"/>
              <a:t>04.12.2025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ADD55-C30F-40BF-960A-F9D0FC7FD1C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223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0C0B-5E6F-44B0-8CED-3E9DFC90DAC1}" type="datetime1">
              <a:rPr lang="ru-RU" smtClean="0"/>
              <a:t>04.12.2025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ADD55-C30F-40BF-960A-F9D0FC7FD1C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083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0B55D-7C55-4F8F-B9A9-E0F0294CC93A}" type="datetime1">
              <a:rPr lang="ru-RU" smtClean="0"/>
              <a:t>04.12.2025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ADD55-C30F-40BF-960A-F9D0FC7FD1C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627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F3A0-63ED-4BCD-ACB4-AD913D6DAD06}" type="datetime1">
              <a:rPr lang="ru-RU" smtClean="0"/>
              <a:t>04.12.2025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ADD55-C30F-40BF-960A-F9D0FC7FD1C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858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0343-BC11-4C57-9952-AE09DD33E48D}" type="datetime1">
              <a:rPr lang="ru-RU" smtClean="0"/>
              <a:t>04.12.2025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ADD55-C30F-40BF-960A-F9D0FC7FD1C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0166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530EC-06AC-435C-9450-6E6E2A3DA804}" type="datetime1">
              <a:rPr lang="ru-RU" smtClean="0"/>
              <a:t>04.12.2025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ADD55-C30F-40BF-960A-F9D0FC7FD1C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2231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BDA28-2B69-4DEB-A3AE-670748B4EF15}" type="datetime1">
              <a:rPr lang="ru-RU" smtClean="0"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ADD55-C30F-40BF-960A-F9D0FC7FD1C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436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E777-B83F-4383-9BBF-74D40221C9E9}" type="datetime1">
              <a:rPr lang="ru-RU" smtClean="0"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ADD55-C30F-40BF-960A-F9D0FC7FD1C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956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43E4B-178C-4507-902A-87C6A1C08166}" type="datetime1">
              <a:rPr lang="ru-RU" smtClean="0"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ADD55-C30F-40BF-960A-F9D0FC7FD1C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47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811000" y="6492875"/>
            <a:ext cx="381000" cy="365125"/>
          </a:xfrm>
        </p:spPr>
        <p:txBody>
          <a:bodyPr/>
          <a:lstStyle/>
          <a:p>
            <a:r>
              <a:rPr lang="en-US" sz="1600" dirty="0"/>
              <a:t>1</a:t>
            </a:r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3300550" y="-10887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291" y="1724550"/>
            <a:ext cx="3808151" cy="528711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044" y="3592450"/>
            <a:ext cx="7216195" cy="16147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" y="754208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Обязательной частью реализации математической модели с использованием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Geant4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построение списка используемых физических процессов. 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каким законам происходит моделирование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2234070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(Model)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отдельного типа физического взаимодействия частицы в определённом диапазоне энергий.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отдельного типа физического взаимодействия частицы во всём диапазоне энергий. 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0" y="5350611"/>
            <a:ext cx="111579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моделей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(Physics List)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набор всех процессов, заданных для каждой частицы, участвующей в моделировании физических взаимодействий в среде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Geant4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BE02AEF8-0F99-8FC1-6CC2-B543EC97E805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2856194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752634" y="6449776"/>
            <a:ext cx="439366" cy="408224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2</a:t>
            </a:fld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4127401" y="8194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5037" y="592969"/>
                <a:ext cx="5807413" cy="6247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Категории процессов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электромагнитные взаимодействия</a:t>
                </a: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ионизация 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G4eIonisation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комптоновское рассеяние 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G4ComptonScattering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многократное рассеяние 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G4MultipleScattering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тормозное излучение 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G4eBremsstrahlung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…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адронные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взаимодействия</a:t>
                </a: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захват 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G4HadronCaptureProcess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деление 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G4HadronFissionProcess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упругое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рассеяние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G4HadronElasticProcess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неупругое рассеяние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(G4HadronInelasticProcess)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фотоядерные и лептон-ядерные взаимодействия</a:t>
                </a:r>
              </a:p>
              <a:p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распады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распады лептонов,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полулептонные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  распады, радиоактивные распады ядер</a:t>
                </a:r>
              </a:p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электромагнитные распады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p>
                        <m: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  <m:r>
                      <a:rPr lang="ru-RU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p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37" y="592969"/>
                <a:ext cx="5807413" cy="6247864"/>
              </a:xfrm>
              <a:prstGeom prst="rect">
                <a:avLst/>
              </a:prstGeom>
              <a:blipFill>
                <a:blip r:embed="rId2"/>
                <a:stretch>
                  <a:fillRect l="-1049" t="-4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6033082" y="556172"/>
            <a:ext cx="615891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оптические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рассеяние Рэлея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отражение на границе двух сред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…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параметризация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модели, основанные на параметризации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   экспериментальных данных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(распространение электромагнитных ливней)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транспортировка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0700" y="3362958"/>
            <a:ext cx="555773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классы процессов 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Geant4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являются наследниками абстрактного класса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G4VProcess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каждого процесса должны быть перегружены чисто виртуальные методы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AtRestDoIt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AlongStepDoIt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PostStepDoIt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AtRestGetPhysicalInteractionLength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AlongStepGetPhysicalInteractionLength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PostStepGetPhysicalInteractionLength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354737E-352C-3B22-9A46-48FDC011058D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2442210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733179" y="6492875"/>
            <a:ext cx="458821" cy="365125"/>
          </a:xfrm>
        </p:spPr>
        <p:txBody>
          <a:bodyPr/>
          <a:lstStyle/>
          <a:p>
            <a:fld id="{59AADD55-C30F-40BF-960A-F9D0FC7FD1C4}" type="slidenum">
              <a:rPr lang="ru-RU" sz="2000" smtClean="0"/>
              <a:t>3</a:t>
            </a:fld>
            <a:endParaRPr lang="ru-RU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4127401" y="8194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443" t="6182" r="3476" b="1083"/>
          <a:stretch/>
        </p:blipFill>
        <p:spPr>
          <a:xfrm>
            <a:off x="97276" y="826433"/>
            <a:ext cx="7812000" cy="54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85015" y="2723744"/>
            <a:ext cx="37775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расстояния до следующей границы объёма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времени трекинга для каждой частицы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90871" y="826433"/>
            <a:ext cx="2694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(G4Transportation)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86A044CA-3696-DAC6-B799-2E9F5EF41881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3297041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663464" y="6492875"/>
            <a:ext cx="449094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4</a:t>
            </a:fld>
            <a:endParaRPr lang="ru-R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4127401" y="8194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4662"/>
            <a:ext cx="1211255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перекрытии моделей используется следующий алгоритм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данной энергии соответствует более двух моделей и диапазоны энергий моделей перекрываются полностью, вырабатывается исключение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случае частичного перекрытия двух моделей, модель выбирается случайно, но наиболее вероятен выбор модели, предел применимости которой лежит дальше от данной энергии частицы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079" y="2624570"/>
            <a:ext cx="7394813" cy="264355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381" y="5467974"/>
            <a:ext cx="3343742" cy="120746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690" y="5732341"/>
            <a:ext cx="528711" cy="7073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91397" y="5732341"/>
            <a:ext cx="525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2439110D-1F66-8333-502F-A45E1BFBFC0E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356918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731557" y="6414716"/>
            <a:ext cx="381000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5</a:t>
            </a:fld>
            <a:endParaRPr lang="ru-R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4127401" y="8194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790" y="988119"/>
            <a:ext cx="7873511" cy="4887007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98244D-C235-915F-E022-D59FBA727966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116190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762362" y="6492875"/>
            <a:ext cx="429638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6</a:t>
            </a:fld>
            <a:endParaRPr lang="ru-R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4127401" y="8194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7301"/>
            <a:ext cx="1219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Пороговая энергия.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процесс рождения вторичных частиц имеет собственные ограничения на минимальную энергию этих частиц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Движение всех вторичных частиц моделируется до нулевой энергии.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Каждая частица имеет минимальное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пороговое значение остаточного пробега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мм по умолчанию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каждого материала, которое пересчитывается в энергию. Данное значение используется при моделировании процессов.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Ниже порога энергия трассируемой частицы уменьшается за счёт непрерывных потерь энергии без генерации вторичных частиц).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42" y="5444854"/>
            <a:ext cx="116829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 частиц с энергией ниже порога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Рождение вторичной частицы с энергией ниже порога позволяет получить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энерговыделение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(сигнал) в ближайшем чувствительном объёме.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рождении пар гамма-квантом позитрон с энергией ниже порога участвует в аннигиляции.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276" y="3443600"/>
            <a:ext cx="2236306" cy="20791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589" y="3563470"/>
            <a:ext cx="2157713" cy="210055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2015" y="3304673"/>
            <a:ext cx="2681186" cy="247684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02" y="3078271"/>
            <a:ext cx="5994443" cy="5430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2754" y="3105803"/>
            <a:ext cx="3570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(жидкий аргон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свинец)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3EDB4D30-1B2A-1105-CCFB-D96468B13842}"/>
              </a:ext>
            </a:extLst>
          </p:cNvPr>
          <p:cNvSpPr>
            <a:spLocks noGrp="1"/>
          </p:cNvSpPr>
          <p:nvPr/>
        </p:nvSpPr>
        <p:spPr>
          <a:xfrm>
            <a:off x="10396792" y="6520295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278950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810999" y="6461755"/>
            <a:ext cx="381000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7</a:t>
            </a:fld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4127401" y="8194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0" y="592969"/>
                <a:ext cx="12191999" cy="3714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Оценка длины взаимодействия для данного процесса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сечение процесса,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концентрация ядер мишени.</a:t>
                </a:r>
              </a:p>
              <a:p>
                <a:pPr algn="just"/>
                <a:r>
                  <a:rPr lang="ru-RU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Пример.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случая взаимодействия гамма кванта с веществом при энергиях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~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МэВ длина взаимодействия для комптоновского рассеяния (большое сечение) будет значительно меньше, чем длина взаимодействия для рождения пар </a:t>
                </a:r>
                <a:r>
                  <a:rPr lang="ru-RU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(меньшее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сечение).</a:t>
                </a:r>
              </a:p>
              <a:p>
                <a:pPr algn="just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Длина первого шага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трекинга выбирается равной минимальной длине взаимодействия среди всех процессов с учётом процесса транспортировки (расстояние до границы объёма).</a:t>
                </a:r>
              </a:p>
              <a:p>
                <a:pPr algn="just"/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Производится расчёт непрерывных взаимодействий на длине шага, в конце шага изменяется значение кинетической энергии.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92969"/>
                <a:ext cx="12191999" cy="3714350"/>
              </a:xfrm>
              <a:prstGeom prst="rect">
                <a:avLst/>
              </a:prstGeom>
              <a:blipFill>
                <a:blip r:embed="rId2"/>
                <a:stretch>
                  <a:fillRect l="-500" t="-820" r="-500" b="-19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943" y="4713013"/>
            <a:ext cx="2191056" cy="19624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0" y="4615096"/>
                <a:ext cx="9520137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Проверяется достижение пороговой энергии в соответствии с минимальной величиной остаточного пробега.</a:t>
                </a:r>
              </a:p>
              <a:p>
                <a:pPr algn="just"/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Изменяется положение частицы.</a:t>
                </a:r>
              </a:p>
              <a:p>
                <a:pPr algn="just"/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Производится расчёт дискретных процессов методом Монте-Карло для распределения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при необходимости создаётся список вторичных частиц.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15096"/>
                <a:ext cx="9520137" cy="2246769"/>
              </a:xfrm>
              <a:prstGeom prst="rect">
                <a:avLst/>
              </a:prstGeom>
              <a:blipFill>
                <a:blip r:embed="rId4"/>
                <a:stretch>
                  <a:fillRect l="-640" t="-1355" r="-640" b="-3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5A219C-F176-CFC7-DEEE-856D9B34E26E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1684488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770467" y="6585963"/>
            <a:ext cx="332362" cy="272037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8</a:t>
            </a:fld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401" y="1596788"/>
            <a:ext cx="5780101" cy="3836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27401" y="8194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98" y="672183"/>
            <a:ext cx="53307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Взаимодействия гамма кванта с веществом.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Синий цвет – образование пар.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Красный цвет – Комптон эффект.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Чёрный цвет- транспортировка.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42337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реализации процесса на данном шаге его длина взаимодействия на следующем шаге вычисляется заново.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других нереализованных на данном шаге процессов из длины взаимодействия на следующем шаге вычитается значение длины взаимодействия на предыдущем шаге. 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00C0DAB0-B54A-91D1-B827-B0C22857B7E7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3283679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713723" y="6492875"/>
            <a:ext cx="478277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9</a:t>
            </a:fld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802" y="592969"/>
            <a:ext cx="4725059" cy="38676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27401" y="8194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60" y="992591"/>
            <a:ext cx="3296110" cy="49536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409" y="992590"/>
            <a:ext cx="3134162" cy="4953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6833" y="1964480"/>
            <a:ext cx="547667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Процессы, участвующие в моделировании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радиационные потери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ионизационные потери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многократное рассеяние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аннигиляция позитрона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рождение пар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Комптоновское рассеяние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37F0BB7D-F9A7-D3B5-2192-0EE8ADABB5D0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1851570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693726" y="6492875"/>
            <a:ext cx="498274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10</a:t>
            </a:fld>
            <a:endParaRPr lang="ru-R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3448132" y="0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52" y="997096"/>
            <a:ext cx="11098174" cy="348663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022" y="623495"/>
            <a:ext cx="4972744" cy="7859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96" y="4297930"/>
            <a:ext cx="11069595" cy="55252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70" y="5113119"/>
            <a:ext cx="9459645" cy="1562318"/>
          </a:xfrm>
          <a:prstGeom prst="rect">
            <a:avLst/>
          </a:prstGeom>
        </p:spPr>
      </p:pic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D2202C2F-BB20-3A12-E738-51785B298140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888426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637818" y="6492875"/>
            <a:ext cx="554182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11</a:t>
            </a:fld>
            <a:endParaRPr lang="ru-R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4127401" y="8194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-60960" y="841274"/>
            <a:ext cx="1210491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процессами реализуется в классе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G4ProcessManager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G4ProcessManager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содержит список физических процессов и пороговых значений для каждого типа частиц.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каждой частицы, участвующей в моделировании, создаётся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объект класса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G4ProcessManager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трекинге каждой частицы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G4ProcessManager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моделирует физические процессы, в которых может участвовать данная частица.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процессов и порядок их моделирования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SetProcessOrdering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простых процессов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AddRestProcess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AddContinuousProcess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AddDiscreteProcess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Активация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дезактивация добавленных процессов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ActivateProcess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InActivateProcess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00982" y="4946190"/>
            <a:ext cx="84774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объекту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G4ParticleDefinition* particle =G4Proton::Proton();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G4ProcessManager*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pmanager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particle-&gt;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GetProcessManager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9032E3-45AF-4831-DC7D-22B73B857EE7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3892520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758749" y="6492875"/>
            <a:ext cx="433251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12</a:t>
            </a:fld>
            <a:endParaRPr lang="ru-R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3448132" y="0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4775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Полное описание всех физических моделей и процессов для данной задачи моделирования формирует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PhysicsList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PhysicsList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содержится в объекте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наследнике класса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G4VUserPhysicsList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котором пользователь должен определить все типы частиц и процессы, участвующие в данном моделировании.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463" y="1913835"/>
            <a:ext cx="8345065" cy="494416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-8445" y="2333685"/>
            <a:ext cx="345657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объекте-наследнике класса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G4VUserPhysicsList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должны быть переопределены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виртуальные методы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ConstructParticle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частиц, участвующих в моделировании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ConstructProcess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(описание процессов для каждого типа частиц).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может быть переопределён виртуальный метод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SetCuts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установки минимального значения остаточного пробега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5B55FE54-0BB2-26C1-5545-BE3941C408B3}"/>
              </a:ext>
            </a:extLst>
          </p:cNvPr>
          <p:cNvSpPr>
            <a:spLocks noGrp="1"/>
          </p:cNvSpPr>
          <p:nvPr/>
        </p:nvSpPr>
        <p:spPr>
          <a:xfrm>
            <a:off x="10243463" y="65944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2341445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703996" y="6492875"/>
            <a:ext cx="488004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13</a:t>
            </a:fld>
            <a:endParaRPr lang="ru-R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3448132" y="0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4775"/>
            <a:ext cx="7354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Заголовочный файл для объекта-наследника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G4VUserPhysicsList</a:t>
            </a:r>
            <a:r>
              <a:rPr lang="ru-RU"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7837" y="984885"/>
            <a:ext cx="53502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&lt;G4VUserPhysicsList.hh&gt;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globals.hh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MyPhysicsList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public G4VUserPhysicsList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public: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MyPhysicsList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~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MyPhysicsList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protected: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void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ConstructParticle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void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ConstructProcess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void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SetCuts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736731" y="984885"/>
            <a:ext cx="437096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MyPhysicsList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ConstructParticle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G4Proton::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ProtonDefinition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G4Geantino::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GeantinoDefinition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G4Electron::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ElectronDefinition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9" y="584775"/>
            <a:ext cx="3385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 </a:t>
            </a:r>
            <a:r>
              <a:rPr lang="en-US" sz="20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ConstructParticle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361" y="3231654"/>
            <a:ext cx="425747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Конструкторы шести классов частиц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G4BosonConstructor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G4LeptonConstructor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G4MesonConstructor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G4BaryonConstructor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G4IonConstructor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G4ShortlivedConstructor.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224716" y="4611231"/>
            <a:ext cx="449417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MyPhysicsList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ConstructParticle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G4LeptonConstructor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lConstructor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lConstructor.ConstructParticle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G4MesonConstructor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mConstructor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mConstructor.ConstructParticle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79238AA-19F3-D564-23A6-5158BA8E9616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796652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764818" y="6492875"/>
            <a:ext cx="427182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14</a:t>
            </a:fld>
            <a:endParaRPr lang="ru-R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223735" y="720962"/>
            <a:ext cx="3628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 </a:t>
            </a:r>
            <a:r>
              <a:rPr lang="en-US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ConstructProcess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48132" y="0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435813" y="617390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MyPhysicsList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ConstructProcess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AddTransportation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ConstructEM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852153" y="2538919"/>
            <a:ext cx="840469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MyPhysicsList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G4ParticleDefinition* particle = G4Gamma::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GammaDefinition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G4ProcessManager*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pmanager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particle-&gt;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GetProcessManager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G4PhotoElectricEffect *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thePhotoElectricEffect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G4PhotoElectricEffect();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G4ComptonScattering *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theComptonScattering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G4ComptonScattering();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G4GammaConversion*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theGammaConversion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G4GammaConversion();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pmanager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AddDiscreteProcess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thePhotoElectricEffect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pmanager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AddDiscreteProcess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theComptonScattering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pmanager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AddDiscreteProcess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theGammaConversion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5603132" y="1883027"/>
            <a:ext cx="1118681" cy="7628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662AA14F-C821-DC61-D876-BABB94A3D63C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2609347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684540" y="6492875"/>
            <a:ext cx="507460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15</a:t>
            </a:fld>
            <a:endParaRPr lang="ru-R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3448132" y="0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825" y="2100800"/>
            <a:ext cx="47478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MyPhysicsList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SetCuts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SetCutValue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cutForGamma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,”gamma”);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SetCutValue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cutForElectron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,”e-”);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SetCutValue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cutForPositron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,”e+”);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821" y="894226"/>
            <a:ext cx="3628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 </a:t>
            </a:r>
            <a:r>
              <a:rPr lang="en-US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SetCuts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0409" y="2188723"/>
            <a:ext cx="47478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MyPhysicsList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SetCuts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SetCutsWithDefault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00409" y="1700690"/>
            <a:ext cx="5984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Одинаковые пороговые значения для всех частиц</a:t>
            </a:r>
            <a:r>
              <a:rPr lang="ru-RU" dirty="0"/>
              <a:t>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744" y="4480058"/>
            <a:ext cx="4553585" cy="504895"/>
          </a:xfrm>
          <a:prstGeom prst="rect">
            <a:avLst/>
          </a:prstGeom>
        </p:spPr>
      </p:pic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B42C4984-6FFC-C612-78ED-00E784462DAF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3998746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645630" y="6492875"/>
            <a:ext cx="546370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16</a:t>
            </a:fld>
            <a:endParaRPr lang="ru-R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3448132" y="0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747" y="769689"/>
            <a:ext cx="7609156" cy="5608627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707ADC-269B-90D9-557B-E2AF6CD0C416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3436203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733179" y="6492875"/>
            <a:ext cx="458821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17</a:t>
            </a:fld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3632958" y="0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15" y="1067621"/>
            <a:ext cx="7923524" cy="5351416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6105A9-DA1F-5F11-949A-C8B4E30F4566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1683087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733179" y="6492875"/>
            <a:ext cx="458821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18</a:t>
            </a:fld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52" y="1519825"/>
            <a:ext cx="10031225" cy="50489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94048" y="0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1259" y="807394"/>
            <a:ext cx="1206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</a:t>
            </a:r>
          </a:p>
        </p:txBody>
      </p:sp>
      <p:cxnSp>
        <p:nvCxnSpPr>
          <p:cNvPr id="7" name="Прямая со стрелкой 6"/>
          <p:cNvCxnSpPr>
            <a:stCxn id="5" idx="1"/>
          </p:cNvCxnSpPr>
          <p:nvPr/>
        </p:nvCxnSpPr>
        <p:spPr>
          <a:xfrm flipH="1">
            <a:off x="3023812" y="1007449"/>
            <a:ext cx="4377447" cy="6170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2C7B2FCB-4F08-AC8D-4C6D-F055182B7D31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3719258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674813" y="6492875"/>
            <a:ext cx="517187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19</a:t>
            </a:fld>
            <a:endParaRPr lang="ru-R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3632958" y="0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3405" y="478924"/>
            <a:ext cx="10383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Существуют укомплектованные разработчиками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Geant4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списки физических процессов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63" y="956855"/>
            <a:ext cx="5658640" cy="291505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880" y="2829049"/>
            <a:ext cx="6098756" cy="366382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45152" y="5325682"/>
            <a:ext cx="48381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4D51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CHiral</a:t>
            </a:r>
            <a:r>
              <a:rPr lang="en-US" sz="2000" dirty="0">
                <a:solidFill>
                  <a:srgbClr val="4D51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Invariant Phase </a:t>
            </a:r>
            <a:r>
              <a:rPr lang="en-US" sz="2000" dirty="0" err="1">
                <a:solidFill>
                  <a:srgbClr val="4D51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Spase</a:t>
            </a:r>
            <a:r>
              <a:rPr lang="en-US" sz="2000" dirty="0">
                <a:solidFill>
                  <a:srgbClr val="4D51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(CHIPS)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quark-gluon string model (FRITIOF or FTF)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89C50B9-050B-118F-5F05-A18870A269C8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457209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674813" y="6492875"/>
            <a:ext cx="517187" cy="365125"/>
          </a:xfrm>
        </p:spPr>
        <p:txBody>
          <a:bodyPr/>
          <a:lstStyle/>
          <a:p>
            <a:fld id="{59AADD55-C30F-40BF-960A-F9D0FC7FD1C4}" type="slidenum">
              <a:rPr lang="ru-RU" sz="1600" smtClean="0"/>
              <a:t>20</a:t>
            </a:fld>
            <a:endParaRPr lang="ru-R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3632958" y="0"/>
            <a:ext cx="491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Физические процессы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-101622" y="4669646"/>
            <a:ext cx="64883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G4VModularPhysicsList*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physicsList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QBBC;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physicsList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RegisterPhysics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G4StepLimiterPhysics());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runManager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SetUserInitialization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physicsList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6935" y="4291107"/>
            <a:ext cx="1471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Loader.cc</a:t>
            </a: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2462987" y="1513657"/>
            <a:ext cx="1624991" cy="383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9254" y="1154244"/>
            <a:ext cx="2801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физлист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5626711" y="4656079"/>
            <a:ext cx="924127" cy="4610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42102" y="4324126"/>
            <a:ext cx="57498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процесса, обеспечивающего ограниченное значение шага.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шага может задаваться методом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SetUserLimits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логических объёмов.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3446838" y="5893526"/>
            <a:ext cx="86052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fStepLimit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G4UserLimits(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maxStep,maxTrack,maxTime,minE,minRange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Pb_log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SetUserLimits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fStepLimit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75601" y="6047414"/>
            <a:ext cx="1471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Geometry.cc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77" y="479787"/>
            <a:ext cx="7849695" cy="74305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872" y="626083"/>
            <a:ext cx="2467319" cy="543001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741" y="1922625"/>
            <a:ext cx="7144747" cy="2057687"/>
          </a:xfrm>
          <a:prstGeom prst="rect">
            <a:avLst/>
          </a:prstGeom>
        </p:spPr>
      </p:pic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39FCB218-72A4-662A-73A0-47F1B6BA4C04}"/>
              </a:ext>
            </a:extLst>
          </p:cNvPr>
          <p:cNvSpPr>
            <a:spLocks noGrp="1"/>
          </p:cNvSpPr>
          <p:nvPr/>
        </p:nvSpPr>
        <p:spPr>
          <a:xfrm>
            <a:off x="10252364" y="6492874"/>
            <a:ext cx="1749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 </a:t>
            </a:r>
            <a:r>
              <a:rPr lang="ru-RU" sz="1200" dirty="0"/>
              <a:t>НИЯУ МИФИ, каф. 7</a:t>
            </a:r>
          </a:p>
        </p:txBody>
      </p:sp>
    </p:spTree>
    <p:extLst>
      <p:ext uri="{BB962C8B-B14F-4D97-AF65-F5344CB8AC3E}">
        <p14:creationId xmlns:p14="http://schemas.microsoft.com/office/powerpoint/2010/main" val="38968432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6054</TotalTime>
  <Words>1334</Words>
  <Application>Microsoft Office PowerPoint</Application>
  <PresentationFormat>Широкоэкранный</PresentationFormat>
  <Paragraphs>253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Leon</dc:creator>
  <cp:lastModifiedBy>Алексей Леонов</cp:lastModifiedBy>
  <cp:revision>735</cp:revision>
  <dcterms:created xsi:type="dcterms:W3CDTF">2024-02-03T20:00:01Z</dcterms:created>
  <dcterms:modified xsi:type="dcterms:W3CDTF">2025-12-04T13:02:42Z</dcterms:modified>
</cp:coreProperties>
</file>